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匠技研工業プロジェクト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オンボーディング計画とスケジュール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33333"/>
                </a:solidFill>
              </a:defRPr>
            </a:pPr>
            <a:r>
              <a:t>実施概要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3A5F"/>
                </a:solidFill>
              </a:defRPr>
            </a:pPr>
            <a:r>
              <a:t>プロジェクト概要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66666"/>
                </a:solidFill>
              </a:defRPr>
            </a:pPr>
            <a:r>
              <a:t>2025年2月21日に実施概要確認MTGを開催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**日時**: 2025年2月21日(金) 16:00～17:00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**出席**: 匠技研工業様（原様）、KOMMONS（津野）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**目的**: プロジェクト内容と進め方の確認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3A5F"/>
                </a:solidFill>
              </a:defRPr>
            </a:pPr>
            <a:r>
              <a:t>稼働条件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66666"/>
                </a:solidFill>
              </a:defRPr>
            </a:pPr>
            <a:r>
              <a:t>実働メンバーは人数調達状況に応じて決定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4023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3A5F"/>
                </a:solidFill>
              </a:defRPr>
            </a:pPr>
            <a:r>
              <a:t>稼働時間...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40233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想定80時間での実装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188720"/>
            <a:ext cx="4023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3A5F"/>
                </a:solidFill>
              </a:defRPr>
            </a:pPr>
            <a:r>
              <a:t>稼働時間...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600200"/>
            <a:ext cx="40233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PM：定額課金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33333"/>
                </a:solidFill>
              </a:defRPr>
            </a:pPr>
            <a:r>
              <a:t>スケジュール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3A5F"/>
                </a:solidFill>
              </a:defRPr>
            </a:pPr>
            <a:r>
              <a:t>稼働開始までのステップ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66666"/>
                </a:solidFill>
              </a:defRPr>
            </a:pPr>
            <a:r>
              <a:t>契約締結後に以下を実施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AA899"/>
                </a:solidFill>
              </a:defRPr>
            </a:pPr>
            <a:r>
              <a:t>1. **稼働条件の...</a:t>
            </a: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稼働時間、課金体系、勤務体系を確定</a:t>
            </a:r>
          </a:p>
          <a:p>
            <a:pPr>
              <a:defRPr sz="1300" b="1">
                <a:solidFill>
                  <a:srgbClr val="3AA899"/>
                </a:solidFill>
              </a:defRPr>
            </a:pPr>
            <a:r>
              <a:t>2. **稼働準備**</a:t>
            </a: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各種アカウント発行、レクチャー準備</a:t>
            </a:r>
          </a:p>
          <a:p>
            <a:pPr>
              <a:defRPr sz="1300" b="1">
                <a:solidFill>
                  <a:srgbClr val="3AA899"/>
                </a:solidFill>
              </a:defRPr>
            </a:pPr>
            <a:r>
              <a:t>3. **稼働開始**</a:t>
            </a: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キックオフMTG開催（3月3日）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3A5F"/>
                </a:solidFill>
              </a:defRPr>
            </a:pPr>
            <a:r>
              <a:t>稼働開始日程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66666"/>
                </a:solidFill>
              </a:defRPr>
            </a:pPr>
            <a:r>
              <a:t>3月3日（月）より本格稼働開始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AA899"/>
                </a:solidFill>
              </a:defRPr>
            </a:pPr>
            <a:r>
              <a:t>開始日時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3258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13:00（出社）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AA899"/>
                </a:solidFill>
              </a:defRPr>
            </a:pPr>
            <a:r>
              <a:t>実働時間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0574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約80時間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AA899"/>
                </a:solidFill>
              </a:defRPr>
            </a:pPr>
            <a:r>
              <a:t>勤務体系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78892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リモート＋毎日...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3A5F"/>
                </a:solidFill>
              </a:defRPr>
            </a:pPr>
            <a:r>
              <a:t>キックオフMTG内容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66666"/>
                </a:solidFill>
              </a:defRPr>
            </a:pPr>
            <a:r>
              <a:t>3月3日13時から実施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キックオフMTG（本格稼働開始宣言）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各種システムセットアップ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プロダクトキャッチアップ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テックエキスパート業務キャッチアップ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振り返りMTG（16:15-16:45）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33333"/>
                </a:solidFill>
              </a:defRPr>
            </a:pPr>
            <a:r>
              <a:t>オンボーディング計画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3A5F"/>
                </a:solidFill>
              </a:defRPr>
            </a:pPr>
            <a:r>
              <a:t>Week1（3月3日週）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66666"/>
                </a:solidFill>
              </a:defRPr>
            </a:pPr>
            <a:r>
              <a:t>必要なキャッチアップ内容を一通り理解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各種レクチャーMTGの実施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ドキュメントによるキャッチアップ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内容：ドメイン知識、ビジネスモデル、組織図、プロ...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3A5F"/>
                </a:solidFill>
              </a:defRPr>
            </a:pPr>
            <a:r>
              <a:t>Week2（3月10日週）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66666"/>
                </a:solidFill>
              </a:defRPr>
            </a:pPr>
            <a:r>
              <a:t>部分的にテックエキスパート業務に対応開始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既存顧客の修正対応：1日1～2件程度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基本的な対応フローの習得開始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3A5F"/>
                </a:solidFill>
              </a:defRPr>
            </a:pPr>
            <a:r>
              <a:t>Week3（3月17日週）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66666"/>
                </a:solidFill>
              </a:defRPr>
            </a:pPr>
            <a:r>
              <a:t>一通りのテックエキスパート業務に対応可...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新規顧客対応：1週間で1～2件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人材要件と4月以降のリソース見極め実施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3A5F"/>
                </a:solidFill>
              </a:defRPr>
            </a:pPr>
            <a:r>
              <a:t>Week4（3月24日週）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66666"/>
                </a:solidFill>
              </a:defRPr>
            </a:pPr>
            <a:r>
              <a:t>実働メンバーへのレクチャー実施可能に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他メンバーへの指導開始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4月以降の本格運用体制構築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3A5F"/>
                </a:solidFill>
              </a:defRPr>
            </a:pPr>
            <a:r>
              <a:t>オンボーディング進捗表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66666"/>
                </a:solidFill>
              </a:defRPr>
            </a:pPr>
            <a:r>
              <a:t>4週間で段階的にスキルアップ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097280"/>
          <a:ext cx="7772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3100"/>
                <a:gridCol w="1943100"/>
                <a:gridCol w="1943100"/>
                <a:gridCol w="1943100"/>
              </a:tblGrid>
              <a:tr h="6400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週</a:t>
                      </a:r>
                    </a:p>
                  </a:txBody>
                  <a:tcPr>
                    <a:solidFill>
                      <a:srgbClr val="4A6F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期間</a:t>
                      </a:r>
                    </a:p>
                  </a:txBody>
                  <a:tcPr>
                    <a:solidFill>
                      <a:srgbClr val="4A6F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対応内容</a:t>
                      </a:r>
                    </a:p>
                  </a:txBody>
                  <a:tcPr>
                    <a:solidFill>
                      <a:srgbClr val="4A6F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目標</a:t>
                      </a:r>
                    </a:p>
                  </a:txBody>
                  <a:tcPr>
                    <a:solidFill>
                      <a:srgbClr val="4A6FA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3/3週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レクチャーMTG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基礎知識習得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3/10週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修正対応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既存対応開始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3/17週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新規対応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本格対応開始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3/24週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他メンバー指導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リーダー育成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33333"/>
                </a:solidFill>
              </a:defRPr>
            </a:pPr>
            <a:r>
              <a:t>キャッチアップ内容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3A5F"/>
                </a:solidFill>
              </a:defRPr>
            </a:pPr>
            <a:r>
              <a:t>準備すべきドキュメント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66666"/>
                </a:solidFill>
              </a:defRPr>
            </a:pPr>
            <a:r>
              <a:t>段階的に提供予定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**ドメイン知識**: 業界・市場知識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**ビジネスモデル**: 商流・営業体系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**組織図**: 部門構成・人間関係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**プロダクト**: 機能・仕様・操作方法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**CS業務フロー**: 顧客対応プロセス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**テックエキスパート業務**: 対応内容・手順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3A5F"/>
                </a:solidFill>
              </a:defRPr>
            </a:pPr>
            <a:r>
              <a:t>アカウント発行予定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66666"/>
                </a:solidFill>
              </a:defRPr>
            </a:pPr>
            <a:r>
              <a:t>ご契約次第で実施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Google Workspace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Slack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Notion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匠フォース（社内システム）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3A5F"/>
                </a:solidFill>
              </a:defRPr>
            </a:pPr>
            <a:r>
              <a:t>レクチャー体制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66666"/>
                </a:solidFill>
              </a:defRPr>
            </a:pPr>
            <a:r>
              <a:t>原様を中心にサポート体制を構築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**メインレクチャー**: 原様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**サブサポート**: 高木さん、中野さん（原様が多忙...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**体系化**: レクチャー内容を整理・ドキュメント化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33333"/>
                </a:solidFill>
              </a:defRPr>
            </a:pPr>
            <a:r>
              <a:t>ネクストアクション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3A5F"/>
                </a:solidFill>
              </a:defRPr>
            </a:pPr>
            <a:r>
              <a:t>重要な確認事項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200" b="1">
                <a:solidFill>
                  <a:srgbClr val="3AA899"/>
                </a:solidFill>
              </a:defRPr>
            </a:pPr>
            <a:r>
              <a:t>Slackチャンネルの参加範囲は？</a:t>
            </a:r>
          </a:p>
          <a:p>
            <a:pPr lvl="1"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現状の「#9135-匠技研工業-kommons」のみか、匠様内の他チャンネルへの参加も確認要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3A5F"/>
                </a:solidFill>
              </a:defRPr>
            </a:pPr>
            <a:r>
              <a:t>アクションアイテム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66666"/>
                </a:solidFill>
              </a:defRPr>
            </a:pPr>
            <a:r>
              <a:t>両社で実施すべき項目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AA899"/>
                </a:solidFill>
              </a:defRPr>
            </a:pPr>
            <a:r>
              <a:t>1. **匠技研工業...</a:t>
            </a: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- 各種アカウント準備（Google、Slack、Notion、匠...</a:t>
            </a:r>
          </a:p>
          <a:p>
            <a:pPr>
              <a:defRPr sz="1300" b="1">
                <a:solidFill>
                  <a:srgbClr val="3AA899"/>
                </a:solidFill>
              </a:defRPr>
            </a:pPr>
            <a:r>
              <a:t>2. **KOMMONS対応**</a:t>
            </a: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- ご契約手続き完了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33333"/>
                </a:solidFill>
              </a:defRPr>
            </a:pPr>
            <a:r>
              <a:t>ご契約・アカウント準備を急ぎ進め、3月3日稼働開始に向けて準備を加速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スケジュール確定までの関係者調整をお願いします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