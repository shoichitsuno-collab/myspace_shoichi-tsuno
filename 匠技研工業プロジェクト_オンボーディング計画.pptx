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</p:sldIdLst>
  <p:sldSz cx="9144000" cy="51435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E3A5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1645920"/>
            <a:ext cx="8229600" cy="1371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defRPr sz="4400" b="1">
                <a:solidFill>
                  <a:srgbClr val="FFFFFF"/>
                </a:solidFill>
              </a:defRPr>
            </a:pPr>
            <a:r>
              <a:t>匠技研工業プロジェクト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2926080"/>
            <a:ext cx="8229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400">
                <a:solidFill>
                  <a:srgbClr val="FFFFFF"/>
                </a:solidFill>
              </a:defRPr>
            </a:pPr>
            <a:r>
              <a:t>オンボーディング計画とスケジュール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F5F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011680"/>
            <a:ext cx="8229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600" b="1">
                <a:solidFill>
                  <a:srgbClr val="333333"/>
                </a:solidFill>
              </a:defRPr>
            </a:pPr>
            <a:r>
              <a:t>実施概要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82296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400" b="1">
                <a:solidFill>
                  <a:srgbClr val="1E3A5F"/>
                </a:solidFill>
              </a:defRPr>
            </a:pPr>
            <a:r>
              <a:t>プロジェクト概要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868680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600">
                <a:solidFill>
                  <a:srgbClr val="666666"/>
                </a:solidFill>
              </a:defRPr>
            </a:pPr>
            <a:r>
              <a:t>2025年2月21日に実施概要確認MTGを開催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097280"/>
            <a:ext cx="8229600" cy="3200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600"/>
              </a:spcBef>
              <a:spcAft>
                <a:spcPts val="600"/>
              </a:spcAft>
              <a:defRPr sz="1400">
                <a:solidFill>
                  <a:srgbClr val="333333"/>
                </a:solidFill>
              </a:defRPr>
            </a:pPr>
            <a:r>
              <a:t>**日時**: 2025年2月21日(金) 16:00～17:00</a:t>
            </a:r>
          </a:p>
          <a:p>
            <a:pPr>
              <a:spcBef>
                <a:spcPts val="600"/>
              </a:spcBef>
              <a:spcAft>
                <a:spcPts val="600"/>
              </a:spcAft>
              <a:defRPr sz="1400">
                <a:solidFill>
                  <a:srgbClr val="333333"/>
                </a:solidFill>
              </a:defRPr>
            </a:pPr>
            <a:r>
              <a:t>**出席**: 匠技研工業様（原様）、KOMMONS（津野）</a:t>
            </a:r>
          </a:p>
          <a:p>
            <a:pPr>
              <a:spcBef>
                <a:spcPts val="600"/>
              </a:spcBef>
              <a:spcAft>
                <a:spcPts val="600"/>
              </a:spcAft>
              <a:defRPr sz="1400">
                <a:solidFill>
                  <a:srgbClr val="333333"/>
                </a:solidFill>
              </a:defRPr>
            </a:pPr>
            <a:r>
              <a:t>**目的**: プロジェクト内容と進め方の確認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82296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400" b="1">
                <a:solidFill>
                  <a:srgbClr val="1E3A5F"/>
                </a:solidFill>
              </a:defRPr>
            </a:pPr>
            <a:r>
              <a:t>稼働条件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868680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600">
                <a:solidFill>
                  <a:srgbClr val="666666"/>
                </a:solidFill>
              </a:defRPr>
            </a:pPr>
            <a:r>
              <a:t>実働メンバーは人数調達状況に応じて決定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188720"/>
            <a:ext cx="402336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00" b="1">
                <a:solidFill>
                  <a:srgbClr val="1E3A5F"/>
                </a:solidFill>
              </a:defRPr>
            </a:pPr>
            <a:r>
              <a:t>稼働時間...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600200"/>
            <a:ext cx="4023360" cy="2788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>
                <a:solidFill>
                  <a:srgbClr val="333333"/>
                </a:solidFill>
              </a:defRPr>
            </a:pPr>
            <a:r>
              <a:t>想定80時間での実装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663440" y="1188720"/>
            <a:ext cx="402336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00" b="1">
                <a:solidFill>
                  <a:srgbClr val="1E3A5F"/>
                </a:solidFill>
              </a:defRPr>
            </a:pPr>
            <a:r>
              <a:t>稼働時間...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663440" y="1600200"/>
            <a:ext cx="4023360" cy="2788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>
                <a:solidFill>
                  <a:srgbClr val="333333"/>
                </a:solidFill>
              </a:defRPr>
            </a:pPr>
            <a:r>
              <a:t>PM：定額課金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F5F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011680"/>
            <a:ext cx="8229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600" b="1">
                <a:solidFill>
                  <a:srgbClr val="333333"/>
                </a:solidFill>
              </a:defRPr>
            </a:pPr>
            <a:r>
              <a:t>スケジュール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82296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400" b="1">
                <a:solidFill>
                  <a:srgbClr val="1E3A5F"/>
                </a:solidFill>
              </a:defRPr>
            </a:pPr>
            <a:r>
              <a:t>稼働開始までのステップ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868680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600">
                <a:solidFill>
                  <a:srgbClr val="666666"/>
                </a:solidFill>
              </a:defRPr>
            </a:pPr>
            <a:r>
              <a:t>契約締結後に以下を実施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097280"/>
            <a:ext cx="8229600" cy="3200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00" b="1">
                <a:solidFill>
                  <a:srgbClr val="3AA899"/>
                </a:solidFill>
              </a:defRPr>
            </a:pPr>
            <a:r>
              <a:t>1. **稼働条件の...</a:t>
            </a:r>
          </a:p>
          <a:p>
            <a:pPr lvl="1">
              <a:defRPr sz="1100">
                <a:solidFill>
                  <a:srgbClr val="333333"/>
                </a:solidFill>
              </a:defRPr>
            </a:pPr>
            <a:r>
              <a:t>稼働時間、課金体系、勤務体系を確定</a:t>
            </a:r>
          </a:p>
          <a:p>
            <a:pPr>
              <a:defRPr sz="1300" b="1">
                <a:solidFill>
                  <a:srgbClr val="3AA899"/>
                </a:solidFill>
              </a:defRPr>
            </a:pPr>
            <a:r>
              <a:t>2. **稼働準備**</a:t>
            </a:r>
          </a:p>
          <a:p>
            <a:pPr lvl="1">
              <a:defRPr sz="1100">
                <a:solidFill>
                  <a:srgbClr val="333333"/>
                </a:solidFill>
              </a:defRPr>
            </a:pPr>
            <a:r>
              <a:t>各種アカウント発行、レクチャー準備</a:t>
            </a:r>
          </a:p>
          <a:p>
            <a:pPr>
              <a:defRPr sz="1300" b="1">
                <a:solidFill>
                  <a:srgbClr val="3AA899"/>
                </a:solidFill>
              </a:defRPr>
            </a:pPr>
            <a:r>
              <a:t>3. **稼働開始**</a:t>
            </a:r>
          </a:p>
          <a:p>
            <a:pPr lvl="1">
              <a:defRPr sz="1100">
                <a:solidFill>
                  <a:srgbClr val="333333"/>
                </a:solidFill>
              </a:defRPr>
            </a:pPr>
            <a:r>
              <a:t>キックオフMTG開催（3月3日）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82296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400" b="1">
                <a:solidFill>
                  <a:srgbClr val="1E3A5F"/>
                </a:solidFill>
              </a:defRPr>
            </a:pPr>
            <a:r>
              <a:t>稼働開始日程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868680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600">
                <a:solidFill>
                  <a:srgbClr val="666666"/>
                </a:solidFill>
              </a:defRPr>
            </a:pPr>
            <a:r>
              <a:t>3月3日（月）より本格稼働開始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188720"/>
            <a:ext cx="18288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600" b="1">
                <a:solidFill>
                  <a:srgbClr val="3AA899"/>
                </a:solidFill>
              </a:defRPr>
            </a:pPr>
            <a:r>
              <a:t>開始日時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011680" y="1325880"/>
            <a:ext cx="64008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00">
                <a:solidFill>
                  <a:srgbClr val="333333"/>
                </a:solidFill>
              </a:defRPr>
            </a:pPr>
            <a:r>
              <a:t>13:00（出社）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920240"/>
            <a:ext cx="18288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600" b="1">
                <a:solidFill>
                  <a:srgbClr val="3AA899"/>
                </a:solidFill>
              </a:defRPr>
            </a:pPr>
            <a:r>
              <a:t>実働時間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011680" y="2057400"/>
            <a:ext cx="64008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00">
                <a:solidFill>
                  <a:srgbClr val="333333"/>
                </a:solidFill>
              </a:defRPr>
            </a:pPr>
            <a:r>
              <a:t>約80時間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2651760"/>
            <a:ext cx="18288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600" b="1">
                <a:solidFill>
                  <a:srgbClr val="3AA899"/>
                </a:solidFill>
              </a:defRPr>
            </a:pPr>
            <a:r>
              <a:t>勤務体系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011680" y="2788920"/>
            <a:ext cx="64008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00">
                <a:solidFill>
                  <a:srgbClr val="333333"/>
                </a:solidFill>
              </a:defRPr>
            </a:pPr>
            <a:r>
              <a:t>リモート＋毎日...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82296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400" b="1">
                <a:solidFill>
                  <a:srgbClr val="1E3A5F"/>
                </a:solidFill>
              </a:defRPr>
            </a:pPr>
            <a:r>
              <a:t>キックオフMTG内容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868680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600">
                <a:solidFill>
                  <a:srgbClr val="666666"/>
                </a:solidFill>
              </a:defRPr>
            </a:pPr>
            <a:r>
              <a:t>3月3日13時から実施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097280"/>
            <a:ext cx="8229600" cy="3200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600"/>
              </a:spcBef>
              <a:spcAft>
                <a:spcPts val="600"/>
              </a:spcAft>
              <a:defRPr sz="1400">
                <a:solidFill>
                  <a:srgbClr val="333333"/>
                </a:solidFill>
              </a:defRPr>
            </a:pPr>
            <a:r>
              <a:t>キックオフMTG（本格稼働開始宣言）</a:t>
            </a:r>
          </a:p>
          <a:p>
            <a:pPr>
              <a:spcBef>
                <a:spcPts val="600"/>
              </a:spcBef>
              <a:spcAft>
                <a:spcPts val="600"/>
              </a:spcAft>
              <a:defRPr sz="1400">
                <a:solidFill>
                  <a:srgbClr val="333333"/>
                </a:solidFill>
              </a:defRPr>
            </a:pPr>
            <a:r>
              <a:t>各種システムセットアップ</a:t>
            </a:r>
          </a:p>
          <a:p>
            <a:pPr>
              <a:spcBef>
                <a:spcPts val="600"/>
              </a:spcBef>
              <a:spcAft>
                <a:spcPts val="600"/>
              </a:spcAft>
              <a:defRPr sz="1400">
                <a:solidFill>
                  <a:srgbClr val="333333"/>
                </a:solidFill>
              </a:defRPr>
            </a:pPr>
            <a:r>
              <a:t>プロダクトキャッチアップ</a:t>
            </a:r>
          </a:p>
          <a:p>
            <a:pPr>
              <a:spcBef>
                <a:spcPts val="600"/>
              </a:spcBef>
              <a:spcAft>
                <a:spcPts val="600"/>
              </a:spcAft>
              <a:defRPr sz="1400">
                <a:solidFill>
                  <a:srgbClr val="333333"/>
                </a:solidFill>
              </a:defRPr>
            </a:pPr>
            <a:r>
              <a:t>テックエキスパート業務キャッチアップ</a:t>
            </a:r>
          </a:p>
          <a:p>
            <a:pPr>
              <a:spcBef>
                <a:spcPts val="600"/>
              </a:spcBef>
              <a:spcAft>
                <a:spcPts val="600"/>
              </a:spcAft>
              <a:defRPr sz="1400">
                <a:solidFill>
                  <a:srgbClr val="333333"/>
                </a:solidFill>
              </a:defRPr>
            </a:pPr>
            <a:r>
              <a:t>振り返りMTG（16:15-16:45）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F5F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011680"/>
            <a:ext cx="8229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600" b="1">
                <a:solidFill>
                  <a:srgbClr val="333333"/>
                </a:solidFill>
              </a:defRPr>
            </a:pPr>
            <a:r>
              <a:t>オンボーディング計画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82296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400" b="1">
                <a:solidFill>
                  <a:srgbClr val="1E3A5F"/>
                </a:solidFill>
              </a:defRPr>
            </a:pPr>
            <a:r>
              <a:t>Week1（3月3日週）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868680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600">
                <a:solidFill>
                  <a:srgbClr val="666666"/>
                </a:solidFill>
              </a:defRPr>
            </a:pPr>
            <a:r>
              <a:t>必要なキャッチアップ内容を一通り理解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097280"/>
            <a:ext cx="8229600" cy="3200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600"/>
              </a:spcBef>
              <a:spcAft>
                <a:spcPts val="600"/>
              </a:spcAft>
              <a:defRPr sz="1400">
                <a:solidFill>
                  <a:srgbClr val="333333"/>
                </a:solidFill>
              </a:defRPr>
            </a:pPr>
            <a:r>
              <a:t>各種レクチャーMTGの実施</a:t>
            </a:r>
          </a:p>
          <a:p>
            <a:pPr>
              <a:spcBef>
                <a:spcPts val="600"/>
              </a:spcBef>
              <a:spcAft>
                <a:spcPts val="600"/>
              </a:spcAft>
              <a:defRPr sz="1400">
                <a:solidFill>
                  <a:srgbClr val="333333"/>
                </a:solidFill>
              </a:defRPr>
            </a:pPr>
            <a:r>
              <a:t>ドキュメントによるキャッチアップ</a:t>
            </a:r>
          </a:p>
          <a:p>
            <a:pPr>
              <a:spcBef>
                <a:spcPts val="600"/>
              </a:spcBef>
              <a:spcAft>
                <a:spcPts val="600"/>
              </a:spcAft>
              <a:defRPr sz="1400">
                <a:solidFill>
                  <a:srgbClr val="333333"/>
                </a:solidFill>
              </a:defRPr>
            </a:pPr>
            <a:r>
              <a:t>内容：ドメイン知識、ビジネスモデル、組織図、プロ...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82296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400" b="1">
                <a:solidFill>
                  <a:srgbClr val="1E3A5F"/>
                </a:solidFill>
              </a:defRPr>
            </a:pPr>
            <a:r>
              <a:t>Week2（3月10日週）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868680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600">
                <a:solidFill>
                  <a:srgbClr val="666666"/>
                </a:solidFill>
              </a:defRPr>
            </a:pPr>
            <a:r>
              <a:t>部分的にテックエキスパート業務に対応開始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097280"/>
            <a:ext cx="8229600" cy="3200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600"/>
              </a:spcBef>
              <a:spcAft>
                <a:spcPts val="600"/>
              </a:spcAft>
              <a:defRPr sz="1400">
                <a:solidFill>
                  <a:srgbClr val="333333"/>
                </a:solidFill>
              </a:defRPr>
            </a:pPr>
            <a:r>
              <a:t>既存顧客の修正対応：1日1～2件程度</a:t>
            </a:r>
          </a:p>
          <a:p>
            <a:pPr>
              <a:spcBef>
                <a:spcPts val="600"/>
              </a:spcBef>
              <a:spcAft>
                <a:spcPts val="600"/>
              </a:spcAft>
              <a:defRPr sz="1400">
                <a:solidFill>
                  <a:srgbClr val="333333"/>
                </a:solidFill>
              </a:defRPr>
            </a:pPr>
            <a:r>
              <a:t>基本的な対応フローの習得開始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82296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400" b="1">
                <a:solidFill>
                  <a:srgbClr val="1E3A5F"/>
                </a:solidFill>
              </a:defRPr>
            </a:pPr>
            <a:r>
              <a:t>Week3（3月17日週）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868680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600">
                <a:solidFill>
                  <a:srgbClr val="666666"/>
                </a:solidFill>
              </a:defRPr>
            </a:pPr>
            <a:r>
              <a:t>一通りのテックエキスパート業務に対応可...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097280"/>
            <a:ext cx="8229600" cy="3200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600"/>
              </a:spcBef>
              <a:spcAft>
                <a:spcPts val="600"/>
              </a:spcAft>
              <a:defRPr sz="1400">
                <a:solidFill>
                  <a:srgbClr val="333333"/>
                </a:solidFill>
              </a:defRPr>
            </a:pPr>
            <a:r>
              <a:t>新規顧客対応：1週間で1～2件</a:t>
            </a:r>
          </a:p>
          <a:p>
            <a:pPr>
              <a:spcBef>
                <a:spcPts val="600"/>
              </a:spcBef>
              <a:spcAft>
                <a:spcPts val="600"/>
              </a:spcAft>
              <a:defRPr sz="1400">
                <a:solidFill>
                  <a:srgbClr val="333333"/>
                </a:solidFill>
              </a:defRPr>
            </a:pPr>
            <a:r>
              <a:t>人材要件と4月以降のリソース見極め実施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82296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400" b="1">
                <a:solidFill>
                  <a:srgbClr val="1E3A5F"/>
                </a:solidFill>
              </a:defRPr>
            </a:pPr>
            <a:r>
              <a:t>Week4（3月24日週）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868680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600">
                <a:solidFill>
                  <a:srgbClr val="666666"/>
                </a:solidFill>
              </a:defRPr>
            </a:pPr>
            <a:r>
              <a:t>実働メンバーへのレクチャー実施可能に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097280"/>
            <a:ext cx="8229600" cy="3200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600"/>
              </a:spcBef>
              <a:spcAft>
                <a:spcPts val="600"/>
              </a:spcAft>
              <a:defRPr sz="1400">
                <a:solidFill>
                  <a:srgbClr val="333333"/>
                </a:solidFill>
              </a:defRPr>
            </a:pPr>
            <a:r>
              <a:t>他メンバーへの指導開始</a:t>
            </a:r>
          </a:p>
          <a:p>
            <a:pPr>
              <a:spcBef>
                <a:spcPts val="600"/>
              </a:spcBef>
              <a:spcAft>
                <a:spcPts val="600"/>
              </a:spcAft>
              <a:defRPr sz="1400">
                <a:solidFill>
                  <a:srgbClr val="333333"/>
                </a:solidFill>
              </a:defRPr>
            </a:pPr>
            <a:r>
              <a:t>4月以降の本格運用体制構築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82296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400" b="1">
                <a:solidFill>
                  <a:srgbClr val="1E3A5F"/>
                </a:solidFill>
              </a:defRPr>
            </a:pPr>
            <a:r>
              <a:t>オンボーディング進捗表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868680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600">
                <a:solidFill>
                  <a:srgbClr val="666666"/>
                </a:solidFill>
              </a:defRPr>
            </a:pPr>
            <a:r>
              <a:t>4週間で段階的にスキルアップ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731520" y="1097280"/>
          <a:ext cx="7772400" cy="32004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43100"/>
                <a:gridCol w="1943100"/>
                <a:gridCol w="1943100"/>
                <a:gridCol w="1943100"/>
              </a:tblGrid>
              <a:tr h="640080">
                <a:tc>
                  <a:txBody>
                    <a:bodyPr/>
                    <a:lstStyle/>
                    <a:p>
                      <a:pPr>
                        <a:defRPr sz="1100" b="1">
                          <a:solidFill>
                            <a:srgbClr val="FFFFFF"/>
                          </a:solidFill>
                        </a:defRPr>
                      </a:pPr>
                      <a:r>
                        <a:t>週</a:t>
                      </a:r>
                    </a:p>
                  </a:txBody>
                  <a:tcPr>
                    <a:solidFill>
                      <a:srgbClr val="4A6FA5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1">
                          <a:solidFill>
                            <a:srgbClr val="FFFFFF"/>
                          </a:solidFill>
                        </a:defRPr>
                      </a:pPr>
                      <a:r>
                        <a:t>期間</a:t>
                      </a:r>
                    </a:p>
                  </a:txBody>
                  <a:tcPr>
                    <a:solidFill>
                      <a:srgbClr val="4A6FA5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1">
                          <a:solidFill>
                            <a:srgbClr val="FFFFFF"/>
                          </a:solidFill>
                        </a:defRPr>
                      </a:pPr>
                      <a:r>
                        <a:t>対応内容</a:t>
                      </a:r>
                    </a:p>
                  </a:txBody>
                  <a:tcPr>
                    <a:solidFill>
                      <a:srgbClr val="4A6FA5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1">
                          <a:solidFill>
                            <a:srgbClr val="FFFFFF"/>
                          </a:solidFill>
                        </a:defRPr>
                      </a:pPr>
                      <a:r>
                        <a:t>目標</a:t>
                      </a:r>
                    </a:p>
                  </a:txBody>
                  <a:tcPr>
                    <a:solidFill>
                      <a:srgbClr val="4A6FA5"/>
                    </a:solidFill>
                  </a:tcPr>
                </a:tc>
              </a:tr>
              <a:tr h="640080"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333333"/>
                          </a:solidFill>
                        </a:defRPr>
                      </a:pPr>
                      <a:r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333333"/>
                          </a:solidFill>
                        </a:defRPr>
                      </a:pPr>
                      <a:r>
                        <a:t>3/3週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333333"/>
                          </a:solidFill>
                        </a:defRPr>
                      </a:pPr>
                      <a:r>
                        <a:t>レクチャーMTG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333333"/>
                          </a:solidFill>
                        </a:defRPr>
                      </a:pPr>
                      <a:r>
                        <a:t>基礎知識習得</a:t>
                      </a:r>
                    </a:p>
                  </a:txBody>
                  <a:tcPr/>
                </a:tc>
              </a:tr>
              <a:tr h="640080"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333333"/>
                          </a:solidFill>
                        </a:defRPr>
                      </a:pPr>
                      <a:r>
                        <a:t>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333333"/>
                          </a:solidFill>
                        </a:defRPr>
                      </a:pPr>
                      <a:r>
                        <a:t>3/10週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333333"/>
                          </a:solidFill>
                        </a:defRPr>
                      </a:pPr>
                      <a:r>
                        <a:t>修正対応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333333"/>
                          </a:solidFill>
                        </a:defRPr>
                      </a:pPr>
                      <a:r>
                        <a:t>既存対応開始</a:t>
                      </a:r>
                    </a:p>
                  </a:txBody>
                  <a:tcPr/>
                </a:tc>
              </a:tr>
              <a:tr h="640080"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333333"/>
                          </a:solidFill>
                        </a:defRPr>
                      </a:pPr>
                      <a:r>
                        <a:t>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333333"/>
                          </a:solidFill>
                        </a:defRPr>
                      </a:pPr>
                      <a:r>
                        <a:t>3/17週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333333"/>
                          </a:solidFill>
                        </a:defRPr>
                      </a:pPr>
                      <a:r>
                        <a:t>新規対応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333333"/>
                          </a:solidFill>
                        </a:defRPr>
                      </a:pPr>
                      <a:r>
                        <a:t>本格対応開始</a:t>
                      </a:r>
                    </a:p>
                  </a:txBody>
                  <a:tcPr/>
                </a:tc>
              </a:tr>
              <a:tr h="640080"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333333"/>
                          </a:solidFill>
                        </a:defRPr>
                      </a:pPr>
                      <a:r>
                        <a:t>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333333"/>
                          </a:solidFill>
                        </a:defRPr>
                      </a:pPr>
                      <a:r>
                        <a:t>3/24週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333333"/>
                          </a:solidFill>
                        </a:defRPr>
                      </a:pPr>
                      <a:r>
                        <a:t>他メンバー指導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333333"/>
                          </a:solidFill>
                        </a:defRPr>
                      </a:pPr>
                      <a:r>
                        <a:t>リーダー育成</a:t>
                      </a:r>
                    </a:p>
                  </a:txBody>
                  <a:tcPr/>
                </a:tc>
              </a:tr>
            </a:tbl>
          </a:graphicData>
        </a:graphic>
      </p:graphicFrame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F5F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011680"/>
            <a:ext cx="8229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600" b="1">
                <a:solidFill>
                  <a:srgbClr val="333333"/>
                </a:solidFill>
              </a:defRPr>
            </a:pPr>
            <a:r>
              <a:t>キャッチアップ内容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82296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400" b="1">
                <a:solidFill>
                  <a:srgbClr val="1E3A5F"/>
                </a:solidFill>
              </a:defRPr>
            </a:pPr>
            <a:r>
              <a:t>準備すべきドキュメント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868680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600">
                <a:solidFill>
                  <a:srgbClr val="666666"/>
                </a:solidFill>
              </a:defRPr>
            </a:pPr>
            <a:r>
              <a:t>段階的に提供予定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097280"/>
            <a:ext cx="8229600" cy="3200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600"/>
              </a:spcBef>
              <a:spcAft>
                <a:spcPts val="600"/>
              </a:spcAft>
              <a:defRPr sz="1400">
                <a:solidFill>
                  <a:srgbClr val="333333"/>
                </a:solidFill>
              </a:defRPr>
            </a:pPr>
            <a:r>
              <a:t>**ドメイン知識**: 業界・市場知識</a:t>
            </a:r>
          </a:p>
          <a:p>
            <a:pPr>
              <a:spcBef>
                <a:spcPts val="600"/>
              </a:spcBef>
              <a:spcAft>
                <a:spcPts val="600"/>
              </a:spcAft>
              <a:defRPr sz="1400">
                <a:solidFill>
                  <a:srgbClr val="333333"/>
                </a:solidFill>
              </a:defRPr>
            </a:pPr>
            <a:r>
              <a:t>**ビジネスモデル**: 商流・営業体系</a:t>
            </a:r>
          </a:p>
          <a:p>
            <a:pPr>
              <a:spcBef>
                <a:spcPts val="600"/>
              </a:spcBef>
              <a:spcAft>
                <a:spcPts val="600"/>
              </a:spcAft>
              <a:defRPr sz="1400">
                <a:solidFill>
                  <a:srgbClr val="333333"/>
                </a:solidFill>
              </a:defRPr>
            </a:pPr>
            <a:r>
              <a:t>**組織図**: 部門構成・人間関係</a:t>
            </a:r>
          </a:p>
          <a:p>
            <a:pPr>
              <a:spcBef>
                <a:spcPts val="600"/>
              </a:spcBef>
              <a:spcAft>
                <a:spcPts val="600"/>
              </a:spcAft>
              <a:defRPr sz="1400">
                <a:solidFill>
                  <a:srgbClr val="333333"/>
                </a:solidFill>
              </a:defRPr>
            </a:pPr>
            <a:r>
              <a:t>**プロダクト**: 機能・仕様・操作方法</a:t>
            </a:r>
          </a:p>
          <a:p>
            <a:pPr>
              <a:spcBef>
                <a:spcPts val="600"/>
              </a:spcBef>
              <a:spcAft>
                <a:spcPts val="600"/>
              </a:spcAft>
              <a:defRPr sz="1400">
                <a:solidFill>
                  <a:srgbClr val="333333"/>
                </a:solidFill>
              </a:defRPr>
            </a:pPr>
            <a:r>
              <a:t>**CS業務フロー**: 顧客対応プロセス</a:t>
            </a:r>
          </a:p>
          <a:p>
            <a:pPr>
              <a:spcBef>
                <a:spcPts val="600"/>
              </a:spcBef>
              <a:spcAft>
                <a:spcPts val="600"/>
              </a:spcAft>
              <a:defRPr sz="1400">
                <a:solidFill>
                  <a:srgbClr val="333333"/>
                </a:solidFill>
              </a:defRPr>
            </a:pPr>
            <a:r>
              <a:t>**テックエキスパート業務**: 対応内容・手順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82296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400" b="1">
                <a:solidFill>
                  <a:srgbClr val="1E3A5F"/>
                </a:solidFill>
              </a:defRPr>
            </a:pPr>
            <a:r>
              <a:t>アカウント発行予定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868680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600">
                <a:solidFill>
                  <a:srgbClr val="666666"/>
                </a:solidFill>
              </a:defRPr>
            </a:pPr>
            <a:r>
              <a:t>ご契約次第で実施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097280"/>
            <a:ext cx="8229600" cy="3200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600"/>
              </a:spcBef>
              <a:spcAft>
                <a:spcPts val="600"/>
              </a:spcAft>
              <a:defRPr sz="1400">
                <a:solidFill>
                  <a:srgbClr val="333333"/>
                </a:solidFill>
              </a:defRPr>
            </a:pPr>
            <a:r>
              <a:t>Google Workspace</a:t>
            </a:r>
          </a:p>
          <a:p>
            <a:pPr>
              <a:spcBef>
                <a:spcPts val="600"/>
              </a:spcBef>
              <a:spcAft>
                <a:spcPts val="600"/>
              </a:spcAft>
              <a:defRPr sz="1400">
                <a:solidFill>
                  <a:srgbClr val="333333"/>
                </a:solidFill>
              </a:defRPr>
            </a:pPr>
            <a:r>
              <a:t>Slack</a:t>
            </a:r>
          </a:p>
          <a:p>
            <a:pPr>
              <a:spcBef>
                <a:spcPts val="600"/>
              </a:spcBef>
              <a:spcAft>
                <a:spcPts val="600"/>
              </a:spcAft>
              <a:defRPr sz="1400">
                <a:solidFill>
                  <a:srgbClr val="333333"/>
                </a:solidFill>
              </a:defRPr>
            </a:pPr>
            <a:r>
              <a:t>Notion</a:t>
            </a:r>
          </a:p>
          <a:p>
            <a:pPr>
              <a:spcBef>
                <a:spcPts val="600"/>
              </a:spcBef>
              <a:spcAft>
                <a:spcPts val="600"/>
              </a:spcAft>
              <a:defRPr sz="1400">
                <a:solidFill>
                  <a:srgbClr val="333333"/>
                </a:solidFill>
              </a:defRPr>
            </a:pPr>
            <a:r>
              <a:t>匠フォース（社内システム）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82296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400" b="1">
                <a:solidFill>
                  <a:srgbClr val="1E3A5F"/>
                </a:solidFill>
              </a:defRPr>
            </a:pPr>
            <a:r>
              <a:t>レクチャー体制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868680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600">
                <a:solidFill>
                  <a:srgbClr val="666666"/>
                </a:solidFill>
              </a:defRPr>
            </a:pPr>
            <a:r>
              <a:t>原様を中心にサポート体制を構築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097280"/>
            <a:ext cx="8229600" cy="3200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600"/>
              </a:spcBef>
              <a:spcAft>
                <a:spcPts val="600"/>
              </a:spcAft>
              <a:defRPr sz="1400">
                <a:solidFill>
                  <a:srgbClr val="333333"/>
                </a:solidFill>
              </a:defRPr>
            </a:pPr>
            <a:r>
              <a:t>**メインレクチャー**: 原様</a:t>
            </a:r>
          </a:p>
          <a:p>
            <a:pPr>
              <a:spcBef>
                <a:spcPts val="600"/>
              </a:spcBef>
              <a:spcAft>
                <a:spcPts val="600"/>
              </a:spcAft>
              <a:defRPr sz="1400">
                <a:solidFill>
                  <a:srgbClr val="333333"/>
                </a:solidFill>
              </a:defRPr>
            </a:pPr>
            <a:r>
              <a:t>**サブサポート**: 高木さん、中野さん（原様が多忙...</a:t>
            </a:r>
          </a:p>
          <a:p>
            <a:pPr>
              <a:spcBef>
                <a:spcPts val="600"/>
              </a:spcBef>
              <a:spcAft>
                <a:spcPts val="600"/>
              </a:spcAft>
              <a:defRPr sz="1400">
                <a:solidFill>
                  <a:srgbClr val="333333"/>
                </a:solidFill>
              </a:defRPr>
            </a:pPr>
            <a:r>
              <a:t>**体系化**: レクチャー内容を整理・ドキュメント化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F5F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011680"/>
            <a:ext cx="8229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600" b="1">
                <a:solidFill>
                  <a:srgbClr val="333333"/>
                </a:solidFill>
              </a:defRPr>
            </a:pPr>
            <a:r>
              <a:t>ネクストアクション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82296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400" b="1">
                <a:solidFill>
                  <a:srgbClr val="1E3A5F"/>
                </a:solidFill>
              </a:defRPr>
            </a:pPr>
            <a:r>
              <a:t>重要な確認事項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14400"/>
            <a:ext cx="8229600" cy="3840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600"/>
              </a:spcBef>
              <a:defRPr sz="1200" b="1">
                <a:solidFill>
                  <a:srgbClr val="3AA899"/>
                </a:solidFill>
              </a:defRPr>
            </a:pPr>
            <a:r>
              <a:t>Slackチャンネルの参加範囲は？</a:t>
            </a:r>
          </a:p>
          <a:p>
            <a:pPr lvl="1">
              <a:spcAft>
                <a:spcPts val="600"/>
              </a:spcAft>
              <a:defRPr sz="1100">
                <a:solidFill>
                  <a:srgbClr val="333333"/>
                </a:solidFill>
              </a:defRPr>
            </a:pPr>
            <a:r>
              <a:t>現状の「#9135-匠技研工業-kommons」のみか、匠様内の他チャンネルへの参加も確認要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82296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400" b="1">
                <a:solidFill>
                  <a:srgbClr val="1E3A5F"/>
                </a:solidFill>
              </a:defRPr>
            </a:pPr>
            <a:r>
              <a:t>アクションアイテム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868680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600">
                <a:solidFill>
                  <a:srgbClr val="666666"/>
                </a:solidFill>
              </a:defRPr>
            </a:pPr>
            <a:r>
              <a:t>両社で実施すべき項目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097280"/>
            <a:ext cx="8229600" cy="3200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00" b="1">
                <a:solidFill>
                  <a:srgbClr val="3AA899"/>
                </a:solidFill>
              </a:defRPr>
            </a:pPr>
            <a:r>
              <a:t>1. **匠技研工業...</a:t>
            </a:r>
          </a:p>
          <a:p>
            <a:pPr lvl="1">
              <a:defRPr sz="1100">
                <a:solidFill>
                  <a:srgbClr val="333333"/>
                </a:solidFill>
              </a:defRPr>
            </a:pPr>
            <a:r>
              <a:t>- 各種アカウント準備（Google、Slack、Notion、匠...</a:t>
            </a:r>
          </a:p>
          <a:p>
            <a:pPr>
              <a:defRPr sz="1300" b="1">
                <a:solidFill>
                  <a:srgbClr val="3AA899"/>
                </a:solidFill>
              </a:defRPr>
            </a:pPr>
            <a:r>
              <a:t>2. **KOMMONS対応**</a:t>
            </a:r>
          </a:p>
          <a:p>
            <a:pPr lvl="1">
              <a:defRPr sz="1100">
                <a:solidFill>
                  <a:srgbClr val="333333"/>
                </a:solidFill>
              </a:defRPr>
            </a:pPr>
            <a:r>
              <a:t>- ご契約手続き完了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F5F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1371600"/>
            <a:ext cx="82296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3200" b="1">
                <a:solidFill>
                  <a:srgbClr val="333333"/>
                </a:solidFill>
              </a:defRPr>
            </a:pPr>
            <a:r>
              <a:t>ご契約・アカウント準備を急ぎ進め、3月3日稼働開始に向けて準備を加速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2286000"/>
            <a:ext cx="82296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>
                <a:solidFill>
                  <a:srgbClr val="333333"/>
                </a:solidFill>
              </a:defRPr>
            </a:pPr>
            <a:r>
              <a:t>スケジュール確定までの関係者調整をお願いします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