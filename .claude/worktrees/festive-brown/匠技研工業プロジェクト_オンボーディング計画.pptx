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1E3A5F"/>
                </a:solidFill>
              </a:defRPr>
            </a:pPr>
            <a:r>
              <a:t>匠技研工業プロジェクト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2004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4682B4"/>
                </a:solidFill>
              </a:defRPr>
            </a:pPr>
            <a:r>
              <a:t>オンボーディング計画とスケジュール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実施概要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76809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33333"/>
                </a:solidFill>
              </a:defRPr>
            </a:pPr>
            <a:r>
              <a:t>2025年2月21日に実施概要確認MTGを開催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日時: 2月21日 16:00-17:00</a:t>
            </a:r>
          </a:p>
          <a:p>
            <a:pPr>
              <a:defRPr sz="1800">
                <a:solidFill>
                  <a:srgbClr val="333333"/>
                </a:solidFill>
              </a:defRPr>
            </a:pPr>
            <a:r>
              <a:t>出席: 匠技研工業様（原様）、KOMMONS（津野）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稼働条件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3200400" cy="54864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14300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稼働時間: 80時間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828800"/>
            <a:ext cx="3200400" cy="54864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874519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PM: 定額課金</a:t>
            </a:r>
          </a:p>
        </p:txBody>
      </p:sp>
      <p:sp>
        <p:nvSpPr>
          <p:cNvPr id="8" name="Rectangle 7"/>
          <p:cNvSpPr/>
          <p:nvPr/>
        </p:nvSpPr>
        <p:spPr>
          <a:xfrm>
            <a:off x="914400" y="2560320"/>
            <a:ext cx="3200400" cy="54864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606039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実働: 従量課金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91839"/>
            <a:ext cx="3200400" cy="54864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337559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勤務: リモート（毎日4時間）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スケジュール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稼働開始: 3月3日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114300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682B4"/>
                </a:solidFill>
              </a:defRPr>
            </a:pPr>
            <a:r>
              <a:t>明日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1737360"/>
            <a:ext cx="7680960" cy="45720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783080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1. 稼働条件すり合わせ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783080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682B4"/>
                </a:solidFill>
              </a:defRPr>
            </a:pPr>
            <a:r>
              <a:t>3月3日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2377439"/>
            <a:ext cx="7680960" cy="45720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2315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2. 稼働準備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0" y="242315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682B4"/>
                </a:solidFill>
              </a:defRPr>
            </a:pPr>
            <a:r>
              <a:t>3月3-4日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1520" y="3017520"/>
            <a:ext cx="7680960" cy="45720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63239"/>
            <a:ext cx="5486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33333"/>
                </a:solidFill>
              </a:defRPr>
            </a:pPr>
            <a:r>
              <a:t>3. キックオフMTG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063239"/>
            <a:ext cx="1371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i="1">
                <a:solidFill>
                  <a:srgbClr val="4682B4"/>
                </a:solidFill>
              </a:defRPr>
            </a:pPr>
            <a:r>
              <a:t>3月5日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Week1（3/3週）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DCF0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69494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必要なキャッチアップ内容を一通り理解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・各種レクチャーMTG実施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・ドメイン知識、ビジネスモデル習得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Week2（3/10週）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DCF0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69494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部分的にテックエキスパート業務に対応開始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・既存顧客修正対応: 1日1-2件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・基本的な対応フロー習得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Week3（3/17週）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DCF0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69494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一通りのテックエキスパート業務に対応可能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・新規顧客対応: 1週間1-2件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・人材要件見極め実施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Week4（3/24週）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3474720"/>
          </a:xfrm>
          <a:prstGeom prst="rect">
            <a:avLst/>
          </a:prstGeom>
          <a:solidFill>
            <a:srgbClr val="DCF0FF"/>
          </a:solidFill>
          <a:ln w="25400"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371600"/>
            <a:ext cx="6949440" cy="2926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E3A5F"/>
                </a:solidFill>
              </a:defRPr>
            </a:pPr>
            <a:r>
              <a:t>実働メンバーへのレクチャー実施可能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・他メンバーへの指導開始</a:t>
            </a:r>
          </a:p>
          <a:p>
            <a:pPr>
              <a:defRPr sz="1400" b="0">
                <a:solidFill>
                  <a:srgbClr val="333333"/>
                </a:solidFill>
              </a:defRPr>
            </a:pPr>
            <a:r>
              <a:t>・4月以降の本格運用体制構築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キャッチアップ内容</a:t>
            </a:r>
          </a:p>
        </p:txBody>
      </p:sp>
      <p:sp>
        <p:nvSpPr>
          <p:cNvPr id="4" name="Rectangle 3"/>
          <p:cNvSpPr/>
          <p:nvPr/>
        </p:nvSpPr>
        <p:spPr>
          <a:xfrm>
            <a:off x="1371600" y="1097280"/>
            <a:ext cx="6400800" cy="64008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554480" y="118872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✓ ドメイン知識、ビジネスモデル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2011680"/>
            <a:ext cx="6400800" cy="64008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210312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✓ 組織図、プロダクト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926080"/>
            <a:ext cx="6400800" cy="640080"/>
          </a:xfrm>
          <a:prstGeom prst="rect">
            <a:avLst/>
          </a:prstGeom>
          <a:solidFill>
            <a:srgbClr val="DCF0FF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54480" y="3017520"/>
            <a:ext cx="6035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✓ CS業務フロー、テックエキスパート業務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アカウント発行予定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1645920" cy="2286000"/>
          </a:xfrm>
          <a:prstGeom prst="rect">
            <a:avLst/>
          </a:prstGeom>
          <a:solidFill>
            <a:srgbClr val="4682B4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2286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Google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371600"/>
            <a:ext cx="1645920" cy="2286000"/>
          </a:xfrm>
          <a:prstGeom prst="rect">
            <a:avLst/>
          </a:prstGeom>
          <a:solidFill>
            <a:srgbClr val="4682B4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017520" y="2286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Slack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5120640" y="1371600"/>
            <a:ext cx="1645920" cy="2286000"/>
          </a:xfrm>
          <a:prstGeom prst="rect">
            <a:avLst/>
          </a:prstGeom>
          <a:solidFill>
            <a:srgbClr val="4682B4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79" y="2286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Notion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0" y="1371600"/>
            <a:ext cx="1645920" cy="2286000"/>
          </a:xfrm>
          <a:prstGeom prst="rect">
            <a:avLst/>
          </a:prstGeom>
          <a:solidFill>
            <a:srgbClr val="4682B4"/>
          </a:solidFill>
          <a:ln w="25400"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406640" y="2286000"/>
            <a:ext cx="14630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匠フォース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レクチャー体制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1371600"/>
            <a:ext cx="2743200" cy="54864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291840" y="1417320"/>
            <a:ext cx="2560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メイン: 原様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743200"/>
            <a:ext cx="3200400" cy="548640"/>
          </a:xfrm>
          <a:prstGeom prst="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788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3A5F"/>
                </a:solidFill>
              </a:defRPr>
            </a:pPr>
            <a:r>
              <a:t>サブサポート: 高木さん、中野さん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572000" y="1920240"/>
            <a:ext cx="0" cy="822960"/>
          </a:xfrm>
          <a:prstGeom prst="curvedConnector3">
            <a:avLst/>
          </a:prstGeom>
          <a:ln w="25400">
            <a:solidFill>
              <a:srgbClr val="4682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5029200" y="2743200"/>
            <a:ext cx="3200400" cy="548640"/>
          </a:xfrm>
          <a:prstGeom prst="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120640" y="2788920"/>
            <a:ext cx="30175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1E3A5F"/>
                </a:solidFill>
              </a:defRPr>
            </a:pPr>
            <a:r>
              <a:t>体系化: ドキュメント化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重要な確認事項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solidFill>
            <a:srgbClr val="FFC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43000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Q: Slackチャンネル参加範囲は？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1645919"/>
            <a:ext cx="7315200" cy="457200"/>
          </a:xfrm>
          <a:prstGeom prst="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691639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A: 現状のみか他チャンネルも確認要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651760"/>
            <a:ext cx="7680960" cy="457200"/>
          </a:xfrm>
          <a:prstGeom prst="rect">
            <a:avLst/>
          </a:prstGeom>
          <a:solidFill>
            <a:srgbClr val="FFC80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697479"/>
            <a:ext cx="7315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1E3A5F"/>
                </a:solidFill>
              </a:defRPr>
            </a:pPr>
            <a:r>
              <a:t>Q: アカウント発行タイムラインは？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7315200" cy="457200"/>
          </a:xfrm>
          <a:prstGeom prst="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246120"/>
            <a:ext cx="69494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A: 契約後速やかに実施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アクションアイテム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97280"/>
            <a:ext cx="2286000" cy="548640"/>
          </a:xfrm>
          <a:prstGeom prst="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43000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匠技研工業様</a:t>
            </a:r>
          </a:p>
        </p:txBody>
      </p:sp>
      <p:sp>
        <p:nvSpPr>
          <p:cNvPr id="6" name="Rectangle 5"/>
          <p:cNvSpPr/>
          <p:nvPr/>
        </p:nvSpPr>
        <p:spPr>
          <a:xfrm>
            <a:off x="3108960" y="1097280"/>
            <a:ext cx="5303520" cy="548640"/>
          </a:xfrm>
          <a:prstGeom prst="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91840" y="1143000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アカウント準備、Slack確認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1828800"/>
            <a:ext cx="2286000" cy="548640"/>
          </a:xfrm>
          <a:prstGeom prst="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7451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  <a:r>
              <a:t>KOMMONS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828800"/>
            <a:ext cx="5303520" cy="548640"/>
          </a:xfrm>
          <a:prstGeom prst="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87451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契約手続き、アカウント発行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2560320"/>
            <a:ext cx="2286000" cy="548640"/>
          </a:xfrm>
          <a:prstGeom prst="rect">
            <a:avLst/>
          </a:prstGeom>
          <a:solidFill>
            <a:srgbClr val="4682B4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2606039"/>
            <a:ext cx="2103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</a:defRPr>
            </a:pPr>
          </a:p>
        </p:txBody>
      </p:sp>
      <p:sp>
        <p:nvSpPr>
          <p:cNvPr id="14" name="Rectangle 13"/>
          <p:cNvSpPr/>
          <p:nvPr/>
        </p:nvSpPr>
        <p:spPr>
          <a:xfrm>
            <a:off x="3108960" y="2560320"/>
            <a:ext cx="5303520" cy="548640"/>
          </a:xfrm>
          <a:prstGeom prst="rect">
            <a:avLst/>
          </a:prstGeom>
          <a:solidFill>
            <a:srgbClr val="DCF0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91840" y="2606039"/>
            <a:ext cx="49377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レクチャー資料の整備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914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ネクストアクション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371600"/>
            <a:ext cx="457200" cy="457200"/>
          </a:xfrm>
          <a:prstGeom prst="rect">
            <a:avLst/>
          </a:prstGeom>
          <a:solidFill>
            <a:srgbClr val="4682B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87552" y="14173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3716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ご契約・アカウント準備を急ぎ進め</a:t>
            </a:r>
          </a:p>
        </p:txBody>
      </p:sp>
      <p:sp>
        <p:nvSpPr>
          <p:cNvPr id="7" name="Rectangle 6"/>
          <p:cNvSpPr/>
          <p:nvPr/>
        </p:nvSpPr>
        <p:spPr>
          <a:xfrm>
            <a:off x="914400" y="2286000"/>
            <a:ext cx="457200" cy="457200"/>
          </a:xfrm>
          <a:prstGeom prst="rect">
            <a:avLst/>
          </a:prstGeom>
          <a:solidFill>
            <a:srgbClr val="4682B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87552" y="23317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2860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3月3日稼働開始に向けて準備を加速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solidFill>
            <a:srgbClr val="4682B4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3246120"/>
            <a:ext cx="3200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20040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E3A5F"/>
                </a:solidFill>
              </a:defRPr>
            </a:pPr>
            <a:r>
              <a:t>スケジュール確定までの関係者調整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